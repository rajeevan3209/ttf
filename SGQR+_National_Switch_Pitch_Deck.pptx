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2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2233"/>
                </a:solidFill>
                <a:latin typeface="Calibri"/>
              </a:rPr>
              <a:t>Off-us fee by transaction amount (0.5% rate, SGD 100 cap)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Off-us fee (SGD)</c:v>
                </c:pt>
              </c:strCache>
            </c:strRef>
          </c:tx>
          <c:spPr>
            <a:solidFill>
              <a:srgbClr val="D96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8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100</c:v>
                  </c:pt>
                  <c:pt idx="1">
                    <c:v>1,000</c:v>
                  </c:pt>
                  <c:pt idx="2">
                    <c:v>5,000</c:v>
                  </c:pt>
                  <c:pt idx="3">
                    <c:v>10,000</c:v>
                  </c:pt>
                  <c:pt idx="4">
                    <c:v>20,000</c:v>
                  </c:pt>
                  <c:pt idx="5">
                    <c:v>50,000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5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6B8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B8C"/>
                    </a:solidFill>
                    <a:latin typeface="Arial"/>
                  </a:rPr>
                  <a:t>Fee (SGD)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5394960"/>
            <a:ext cx="2926080" cy="2926080"/>
          </a:xfrm>
          <a:prstGeom prst="ellipse">
            <a:avLst/>
          </a:prstGeom>
          <a:solidFill>
            <a:srgbClr val="2A346E"/>
          </a:solidFill>
          <a:ln/>
        </p:spPr>
      </p:sp>
      <p:sp>
        <p:nvSpPr>
          <p:cNvPr id="3" name="Shape 1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333D77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262F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SGQR+ National Switch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national routing layer for interoperable QR payments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review  —  requesting approval to proceed to pilot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92640" y="2286000"/>
            <a:ext cx="1371600" cy="1371600"/>
          </a:xfrm>
          <a:prstGeom prst="ellipse">
            <a:avLst/>
          </a:prstGeom>
          <a:solidFill>
            <a:srgbClr val="2A346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0" y="2594610"/>
            <a:ext cx="754380" cy="754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payments are fragmented across schemes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46304" cy="146304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QR schemes operate on separate rails — PayNow QR, NETS QR, and more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61488"/>
            <a:ext cx="146304" cy="146304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6974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and acquirers integrate scheme-by-scheme, with no shared entry point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630168"/>
            <a:ext cx="146304" cy="146304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56616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common layer to route a transaction across networks (off-us)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98848"/>
            <a:ext cx="146304" cy="146304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43484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and merchants absorb the complexity of a fragmented ecosystem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23760" y="2011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QR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92640" y="20116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92640" y="20116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 QR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2606040"/>
            <a:ext cx="548640" cy="0"/>
          </a:xfrm>
          <a:prstGeom prst="line">
            <a:avLst/>
          </a:prstGeom>
          <a:noFill/>
          <a:ln w="25400">
            <a:solidFill>
              <a:srgbClr val="D9622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778240" y="2377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44602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223760" y="3383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routing layer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National Switch  |  Project Approval Pitch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switch. Every scheme.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is a common national routing layer that sits between merchants/acquirers and issuer schemes — so any participant can accept and settle a QR transaction, regardless of which scheme it started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Acquirer scan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3657600"/>
            <a:ext cx="6400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29718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29718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SGQR+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Switch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822960" cy="8229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24231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2423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QR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822960" cy="2743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352044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3520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 QR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822960" cy="13716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461772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46177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does not hold funds — it validates, routes, and translates transactions between participant switches.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National Switch  |  Project Approval Pitch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transaction passes through four stages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967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127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21220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212209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QR payload and identify which scheme it belongs to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55366" y="3657600"/>
            <a:ext cx="26517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47974" y="201168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1861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021" y="1828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85134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630854" y="2606040"/>
            <a:ext cx="21220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3630854" y="3429000"/>
            <a:ext cx="212209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acquirer and issuer are active, onboarded members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963260" y="3657600"/>
            <a:ext cx="26517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255868" y="201168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79755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915" y="18288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93028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438748" y="2606040"/>
            <a:ext cx="21220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438748" y="3429000"/>
            <a:ext cx="212209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on-us vs off-us and apply the fee if cross-network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771153" y="3657600"/>
            <a:ext cx="26517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063761" y="201168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987648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808" y="182880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00921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9246641" y="2606040"/>
            <a:ext cx="21220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9246641" y="3429000"/>
            <a:ext cx="212209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the destination scheme’s native message format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acquirer talks directly to another issuer switch — everything transits through SGQR+.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National Switch  |  Project Approval Pitch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MONETIZATION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On-us vs. off-us routing, with a capped fee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2057400"/>
          </a:xfrm>
          <a:prstGeom prst="roundRect">
            <a:avLst>
              <a:gd name="adj" fmla="val 4444"/>
            </a:avLst>
          </a:prstGeom>
          <a:solidFill>
            <a:srgbClr val="EAF8E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431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ON-US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network on both sides (issuer &amp; acquirer share a scheme) → routed directly → no SGQR+ fee.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0" y="1600200"/>
            <a:ext cx="5029200" cy="2057400"/>
          </a:xfrm>
          <a:prstGeom prst="roundRect">
            <a:avLst>
              <a:gd name="adj" fmla="val 4444"/>
            </a:avLst>
          </a:prstGeom>
          <a:solidFill>
            <a:srgbClr val="FCEEE3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02" y="19623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037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6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OFF-US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25146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networks → cross-network routing → fee of 0.3%–0.7%, capped at SGD 100 per transaction.</a:t>
            </a:r>
            <a:endParaRPr lang="en-US" sz="13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4023360"/>
          <a:ext cx="67665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7589520" y="420624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percentage and cap are configurable per participant tier via the switch’s fee configuration.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National Switch  |  Project Approval Pitch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modern, extensible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93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505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· Dashboard · Participants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993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505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 · JSON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0" y="182880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1993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4505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routing pipeline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2423160"/>
            <a:ext cx="6858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26680" y="2423160"/>
            <a:ext cx="6858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058400" y="3017520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0" y="352044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3520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Database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services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2096719" cy="411480"/>
          </a:xfrm>
          <a:prstGeom prst="roundRect">
            <a:avLst>
              <a:gd name="adj" fmla="val 4888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343400"/>
            <a:ext cx="20967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Identification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28239" y="4343400"/>
            <a:ext cx="2172614" cy="411480"/>
          </a:xfrm>
          <a:prstGeom prst="roundRect">
            <a:avLst>
              <a:gd name="adj" fmla="val 4888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28239" y="4343400"/>
            <a:ext cx="21726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Validation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83734" y="4343400"/>
            <a:ext cx="1944929" cy="411480"/>
          </a:xfrm>
          <a:prstGeom prst="roundRect">
            <a:avLst>
              <a:gd name="adj" fmla="val 4888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83734" y="4343400"/>
            <a:ext cx="19449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Routing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1542" y="4343400"/>
            <a:ext cx="1944929" cy="411480"/>
          </a:xfrm>
          <a:prstGeom prst="roundRect">
            <a:avLst>
              <a:gd name="adj" fmla="val 4888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1542" y="4343400"/>
            <a:ext cx="19449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Translation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120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is swappable: the in-memory H2 store used for this prototype can be replaced with a production-grade database without changing pipeline logic.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Spring Boot 3 · Spring Data JPA · Maven · React (Vite) · REST/JSON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National Switch  |  Project Approval Pitch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testable prototype — not just a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795" y="2107235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84248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Simulator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 inbound QR scan and see the routing decision live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99178" y="178308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7778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333" y="2107235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67858" y="1984248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Dashboard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27778" y="265176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On-us / off-us split, volume, and fees collected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49717" y="178308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78317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872" y="2107235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18397" y="1984248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Management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478317" y="265176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and view scheme participants and their status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95" y="4210355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087368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75488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for identification, validation, routing, translation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99178" y="388620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27778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333" y="4210355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67858" y="4087368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27778" y="475488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 unit tests covering on-us, off-us, fee cap, rejections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49717" y="3886200"/>
            <a:ext cx="3393338" cy="1783080"/>
          </a:xfrm>
          <a:prstGeom prst="roundRect">
            <a:avLst>
              <a:gd name="adj" fmla="val 4103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78317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872" y="4210355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18397" y="4087368"/>
            <a:ext cx="2341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 Preview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478317" y="4754880"/>
            <a:ext cx="29361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cost breakdown before a transaction is submitted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National Switch  |  Project Approval Pitch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5394960"/>
            <a:ext cx="2926080" cy="2926080"/>
          </a:xfrm>
          <a:prstGeom prst="ellipse">
            <a:avLst/>
          </a:prstGeom>
          <a:solidFill>
            <a:srgbClr val="2A346E"/>
          </a:solidFill>
          <a:ln/>
        </p:spPr>
      </p:sp>
      <p:sp>
        <p:nvSpPr>
          <p:cNvPr id="3" name="Shape 1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333D7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VALIDATION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end-to-end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99284" cy="2011680"/>
          </a:xfrm>
          <a:prstGeom prst="roundRect">
            <a:avLst>
              <a:gd name="adj" fmla="val 4545"/>
            </a:avLst>
          </a:prstGeom>
          <a:solidFill>
            <a:srgbClr val="262F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2103120"/>
            <a:ext cx="2499284" cy="2011680"/>
          </a:xfrm>
          <a:prstGeom prst="roundRect">
            <a:avLst>
              <a:gd name="adj" fmla="val 4545"/>
            </a:avLst>
          </a:prstGeom>
          <a:solidFill>
            <a:srgbClr val="262F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3684" y="233172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50844" y="320040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schemes onboarded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(PayNow QR, NETS QR)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8728" y="2103120"/>
            <a:ext cx="2499284" cy="2011680"/>
          </a:xfrm>
          <a:prstGeom prst="roundRect">
            <a:avLst>
              <a:gd name="adj" fmla="val 4545"/>
            </a:avLst>
          </a:prstGeom>
          <a:solidFill>
            <a:srgbClr val="262F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8728" y="233172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320040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3771" y="2103120"/>
            <a:ext cx="2499284" cy="2011680"/>
          </a:xfrm>
          <a:prstGeom prst="roundRect">
            <a:avLst>
              <a:gd name="adj" fmla="val 4545"/>
            </a:avLst>
          </a:prstGeom>
          <a:solidFill>
            <a:srgbClr val="262F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3771" y="233172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SGD 100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280931" y="3200400"/>
            <a:ext cx="22249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Off-us fee cap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through automated tests and live simulation of on-us, off-us, suspended-participant, and unrecognized-scheme scenarios.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National Switch  |  Project Approval Pitch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national rollout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4298" cy="4114800"/>
          </a:xfrm>
          <a:prstGeom prst="roundRect">
            <a:avLst>
              <a:gd name="adj" fmla="val 2647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454298" cy="914400"/>
          </a:xfrm>
          <a:prstGeom prst="roundRect">
            <a:avLst>
              <a:gd name="adj" fmla="val 10000"/>
            </a:avLst>
          </a:prstGeom>
          <a:solidFill>
            <a:srgbClr val="1FAA5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842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56232"/>
            <a:ext cx="2357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29970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4672" y="3227832"/>
            <a:ext cx="91440" cy="9144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315468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4-stage routing pipeline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" y="3822192"/>
            <a:ext cx="91440" cy="9144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374904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DB, simulator &amp; dashboard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" y="4416552"/>
            <a:ext cx="91440" cy="9144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434340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On-us/off-us logic with fee cap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68698" y="1691640"/>
            <a:ext cx="3454298" cy="4114800"/>
          </a:xfrm>
          <a:prstGeom prst="roundRect">
            <a:avLst>
              <a:gd name="adj" fmla="val 2647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68698" y="1691640"/>
            <a:ext cx="3454298" cy="91440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/>
        </p:spPr>
      </p:sp>
      <p:sp>
        <p:nvSpPr>
          <p:cNvPr id="18" name="Shape 15"/>
          <p:cNvSpPr/>
          <p:nvPr/>
        </p:nvSpPr>
        <p:spPr>
          <a:xfrm>
            <a:off x="4597298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6" y="198424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283098" y="1856232"/>
            <a:ext cx="2357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597298" y="2743200"/>
            <a:ext cx="29970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NEXT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24730" y="32278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825898" y="315468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production-grade database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624730" y="38221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825898" y="374904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onboarding process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24730" y="44165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825898" y="434340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mTLS &amp; message signing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624730" y="50109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825898" y="493776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QR schemes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88757" y="1691640"/>
            <a:ext cx="3454298" cy="4114800"/>
          </a:xfrm>
          <a:prstGeom prst="roundRect">
            <a:avLst>
              <a:gd name="adj" fmla="val 2647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188757" y="1691640"/>
            <a:ext cx="3454298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2" name="Shape 28"/>
          <p:cNvSpPr/>
          <p:nvPr/>
        </p:nvSpPr>
        <p:spPr>
          <a:xfrm>
            <a:off x="8417357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085" y="1984248"/>
            <a:ext cx="329184" cy="329184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103157" y="1856232"/>
            <a:ext cx="2357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8417357" y="2743200"/>
            <a:ext cx="29970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444789" y="32278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645957" y="315468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/ clearing integration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444789" y="382219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645957" y="374904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 sign-off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8444789" y="441655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8645957" y="4343400"/>
            <a:ext cx="2768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SLAs, full rollout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SGQR+ National Switch  |  Project Approval Pitch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5394960"/>
            <a:ext cx="2926080" cy="2926080"/>
          </a:xfrm>
          <a:prstGeom prst="ellipse">
            <a:avLst/>
          </a:prstGeom>
          <a:solidFill>
            <a:srgbClr val="2A346E"/>
          </a:solidFill>
          <a:ln/>
        </p:spPr>
      </p:sp>
      <p:sp>
        <p:nvSpPr>
          <p:cNvPr id="3" name="Shape 1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333D7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we’re asking management for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2A34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042770"/>
            <a:ext cx="230429" cy="23042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9842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proceed from prototype to a pilot phase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2624328"/>
            <a:ext cx="384048" cy="384048"/>
          </a:xfrm>
          <a:prstGeom prst="ellipse">
            <a:avLst/>
          </a:prstGeom>
          <a:solidFill>
            <a:srgbClr val="2A34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2701138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6426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to engage PayNow QR and NETS QR scheme owners for pilot participation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2A34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3359506"/>
            <a:ext cx="230429" cy="23042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3009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for security hardening (mTLS, message signing) and production-grade infrastructure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22960" y="3941064"/>
            <a:ext cx="384048" cy="384048"/>
          </a:xfrm>
          <a:prstGeom prst="ellipse">
            <a:avLst/>
          </a:prstGeom>
          <a:solidFill>
            <a:srgbClr val="2A346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70" y="4017874"/>
            <a:ext cx="230429" cy="23042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39593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alignment for a phased pilot rollout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22960" y="470916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262F66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1097280" y="47091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routing, validation, and fee logic is already built and tested — the ask is to fund the path to a secure, production-grade pilot.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5897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SGQR+ National Switch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SGQR+ National Switch — Project Approval Pitch</dc:title>
  <dc:subject>PptxGenJS Presentation</dc:subject>
  <dc:creator>SGQR+ Project Team</dc:creator>
  <cp:lastModifiedBy>SGQR+ Project Team</cp:lastModifiedBy>
  <cp:revision>1</cp:revision>
  <dcterms:created xsi:type="dcterms:W3CDTF">2026-09-09T03:52:13Z</dcterms:created>
  <dcterms:modified xsi:type="dcterms:W3CDTF">2026-09-09T03:52:13Z</dcterms:modified>
</cp:coreProperties>
</file>